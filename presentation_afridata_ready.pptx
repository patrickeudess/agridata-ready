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5607" y="885840"/>
            <a:ext cx="4080480" cy="17394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afridata_read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07" y="1005840"/>
            <a:ext cx="3840480" cy="1499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AfriData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9BD8DD"/>
                </a:solidFill>
                <a:latin typeface="Calibri"/>
              </a:rPr>
              <a:t>De la donnée brute à une donnée FAIR et prête pour l'IA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Une application 100% locale d'aide à la préparation et à la qualité des données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B9E4E8"/>
                </a:solidFill>
                <a:latin typeface="Calibri"/>
              </a:rPr>
              <a:t>Fondateur : Patrick ALLA  :  Mémoire DU Données, UCAD / EBAD,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 problème : des données, oui, mais de quelle qualité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•  Les données brutes sont souvent incomplètes, incohérentes, mal documentées.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•  Résultat : analyses fragiles, résultats biaisés, projets d'IA qui échouent.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•  La qualité et la documentation des données sont rarement outillées, surtout hors des grandes structures.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•  Peu d'outils simples, gratuits et respectueux de la confidentialité pour y remédier.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554480"/>
            <a:ext cx="4114800" cy="329184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8A00"/>
                </a:solidFill>
                <a:latin typeface="Calibri"/>
              </a:rPr>
              <a:t>« 80 % »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du temps d'un projet data est consacré au nettoyage et à la préparation des données.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100" b="0" i="1">
                <a:solidFill>
                  <a:srgbClr val="B9E4E8"/>
                </a:solidFill>
                <a:latin typeface="Calibri"/>
              </a:rPr>
              <a:t>Source : enquêtes praticiens (ex. Anaconda, CrowdFlower / Forbes 2016).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solution : AfriData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63238"/>
                </a:solidFill>
                <a:latin typeface="Calibri"/>
              </a:rPr>
              <a:t>Un assistant intelligent qui accompagne l'utilisateur, étape par étape, de la donnée brute à un jeu de données propre, documenté, gouverné, FAIR et prêt pour l'IA.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9728" cy="155448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45F"/>
                </a:solidFill>
                <a:latin typeface="Calibri"/>
              </a:rPr>
              <a:t>100% local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607D86"/>
                </a:solidFill>
                <a:latin typeface="Calibri"/>
              </a:rPr>
              <a:t>Aucune donnée envoyée sur Internet. Confidentialité totale.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46888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2468880"/>
            <a:ext cx="109728" cy="155448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65176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45F"/>
                </a:solidFill>
                <a:latin typeface="Calibri"/>
              </a:rPr>
              <a:t>Sans installation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607D86"/>
                </a:solidFill>
                <a:latin typeface="Calibri"/>
              </a:rPr>
              <a:t>Fonctionne dans le navigateur, installable, marche hors-ligne.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109728" cy="155448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45F"/>
                </a:solidFill>
                <a:latin typeface="Calibri"/>
              </a:rPr>
              <a:t>Guidé et pédagogique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607D86"/>
                </a:solidFill>
                <a:latin typeface="Calibri"/>
              </a:rPr>
              <a:t>L'assistant explique, corrige et recalcule un score de qualité.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3434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343400"/>
            <a:ext cx="109728" cy="155448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52628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45F"/>
                </a:solidFill>
                <a:latin typeface="Calibri"/>
              </a:rPr>
              <a:t>Gratuit et bilingue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607D86"/>
                </a:solidFill>
                <a:latin typeface="Calibri"/>
              </a:rPr>
              <a:t>Interface français / anglais, accessible à tous.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Comprendre : les principes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45F"/>
                </a:solidFill>
                <a:latin typeface="Calibri"/>
              </a:rPr>
              <a:t>FAIR : rendre les données Faciles à trouver, à consulter, à combiner et à réutiliser.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9728" cy="77724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3238"/>
                </a:solidFill>
                <a:latin typeface="Calibri"/>
              </a:rPr>
              <a:t>F : Findable  :  Trouvable : identifiant, titre, mots-clés, métadonnées claires.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109728" cy="77724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3238"/>
                </a:solidFill>
                <a:latin typeface="Calibri"/>
              </a:rPr>
              <a:t>A : Accessible  :  Accessible : conditions d'accès et licence explicites.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4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77640"/>
            <a:ext cx="109728" cy="77724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507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3238"/>
                </a:solidFill>
                <a:latin typeface="Calibri"/>
              </a:rPr>
              <a:t>I : Interoperable  :  Interopérable : formats standards, vocabulaire commun.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109728" cy="777240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651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3238"/>
                </a:solidFill>
                <a:latin typeface="Calibri"/>
              </a:rPr>
              <a:t>R : Reusable  :  Réutilisable : documentation, provenance, licence de réutilisation.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148840"/>
            <a:ext cx="3017520" cy="352044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331720"/>
            <a:ext cx="26060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8A00"/>
                </a:solidFill>
                <a:latin typeface="Calibri"/>
              </a:rPr>
              <a:t>Source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Wilkinson et al. (2016), « The FAIR Guiding Principles for scientific data management and stewardship », Scientific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Comprendre : la préparation à l'IA (AI Readiness)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45F"/>
                </a:solidFill>
                <a:latin typeface="Calibri"/>
              </a:rPr>
              <a:t>AI Readiness : à quel point un jeu de données est prêt à être utilisé par un modèle d'intelligence artificielle / d'apprentissage automatique.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949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•  Complétude et cohérence des données.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•  Qualité des variables et présence d'une variable cible.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•  Structure adaptée, encodage correct, équilibre des données.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•  Documentation suffisante pour l'entraînement d'un modèle.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286000"/>
            <a:ext cx="3749039" cy="31089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468880"/>
            <a:ext cx="3337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8A00"/>
                </a:solidFill>
                <a:latin typeface="Calibri"/>
              </a:rPr>
              <a:t>Sources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Sambasivan et al. (2021), « Everyone wants to do the model work, not the data work » (Data Cascades), Google Research / CHI.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Andrew Ng : mouvement « Data-Centric AI » (2021).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Notre indice : l'AfriData Quality Index (AQI)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0345F"/>
                </a:solidFill>
                <a:latin typeface="Calibri"/>
              </a:rPr>
              <a:t>AQI : un score unique sur 100 qui résume la qualité globale d'un jeu de données. Développé par AfriData Ready, inspiré de standards internationaux.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658368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3238"/>
                </a:solidFill>
                <a:latin typeface="Calibri"/>
              </a:rPr>
              <a:t>Qualité intrinsèque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8A00"/>
                </a:solidFill>
                <a:latin typeface="Calibri"/>
              </a:rPr>
              <a:t>30 %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240280"/>
            <a:ext cx="37490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07D86"/>
                </a:solidFill>
                <a:latin typeface="Calibri"/>
              </a:rPr>
              <a:t>ISO 8000 / ISO 25012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44368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44368"/>
            <a:ext cx="109728" cy="658368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8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3238"/>
                </a:solidFill>
                <a:latin typeface="Calibri"/>
              </a:rPr>
              <a:t>Documentation &amp; métadonnées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90088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8A00"/>
                </a:solidFill>
                <a:latin typeface="Calibri"/>
              </a:rPr>
              <a:t>20 %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90088"/>
            <a:ext cx="37490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07D86"/>
                </a:solidFill>
                <a:latin typeface="Calibri"/>
              </a:rPr>
              <a:t>ISO 11179, Dublin Core, DataCite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94176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94176"/>
            <a:ext cx="109728" cy="658368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39896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3238"/>
                </a:solidFill>
                <a:latin typeface="Calibri"/>
              </a:rPr>
              <a:t>FAIR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39896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8A00"/>
                </a:solidFill>
                <a:latin typeface="Calibri"/>
              </a:rPr>
              <a:t>20 %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39896"/>
            <a:ext cx="37490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07D86"/>
                </a:solidFill>
                <a:latin typeface="Calibri"/>
              </a:rPr>
              <a:t>Wilkinson et al. 2016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43984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43984"/>
            <a:ext cx="109728" cy="658368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9704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3238"/>
                </a:solidFill>
                <a:latin typeface="Calibri"/>
              </a:rPr>
              <a:t>AI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9704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8A00"/>
                </a:solidFill>
                <a:latin typeface="Calibri"/>
              </a:rPr>
              <a:t>20 %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489704"/>
            <a:ext cx="37490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07D86"/>
                </a:solidFill>
                <a:latin typeface="Calibri"/>
              </a:rPr>
              <a:t>Data-Centric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93792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193792"/>
            <a:ext cx="109728" cy="658368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39512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3238"/>
                </a:solidFill>
                <a:latin typeface="Calibri"/>
              </a:rPr>
              <a:t>Sécurité &amp; confidentialité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39512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8A00"/>
                </a:solidFill>
                <a:latin typeface="Calibri"/>
              </a:rPr>
              <a:t>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239512"/>
            <a:ext cx="37490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07D86"/>
                </a:solidFill>
                <a:latin typeface="Calibri"/>
              </a:rPr>
              <a:t>RGPD / ISO 25012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07D86"/>
                </a:solidFill>
                <a:latin typeface="Calibri"/>
              </a:rPr>
              <a:t>Évaluation interne indicative : ne constitue pas une certification officielle.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 parcours en 8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651760" cy="137160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1. Importer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7872" y="1737360"/>
            <a:ext cx="2651760" cy="137160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024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2. Qualité des données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5664" y="1737360"/>
            <a:ext cx="2651760" cy="137160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38544" y="192024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3. Documenter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3456" y="1737360"/>
            <a:ext cx="2651760" cy="137160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46336" y="192024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4. Métadonnées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2651760" cy="137160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5. FAIR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3520440"/>
            <a:ext cx="2651760" cy="137160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70332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6. AI Readiness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5664" y="3520440"/>
            <a:ext cx="2651760" cy="137160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370332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7. Gouvernance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3520440"/>
            <a:ext cx="2651760" cy="137160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6336" y="370332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8. Tableau de bord AQI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63238"/>
                </a:solidFill>
                <a:latin typeface="Calibri"/>
              </a:rPr>
              <a:t>Puis : export d'un « Data Product » complet (données corrigées, dictionnaire, métadonnées, rapports, certificat AQI).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L'assistant intelligent : « Objectif AQI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263238"/>
                </a:solidFill>
                <a:latin typeface="Calibri"/>
              </a:rPr>
              <a:t>•  À chaque étape, l'assistant détecte les problèmes et les explique.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63238"/>
                </a:solidFill>
                <a:latin typeface="Calibri"/>
              </a:rPr>
              <a:t>•  Il propose des corrections : automatiques (en un clic) ou manuelles.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63238"/>
                </a:solidFill>
                <a:latin typeface="Calibri"/>
              </a:rPr>
              <a:t>•  Il affiche le gain réel de chaque action sur le score AQI.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63238"/>
                </a:solidFill>
                <a:latin typeface="Calibri"/>
              </a:rPr>
              <a:t>•  Une barre « Objectif : AQI ≥ 90 » guide l'utilisateur en permanence.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63238"/>
                </a:solidFill>
                <a:latin typeface="Calibri"/>
              </a:rPr>
              <a:t>•  Chaque correction est tracée (journal / data lineage).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74155" y="2065020"/>
            <a:ext cx="5231130" cy="3276600"/>
          </a:xfrm>
          <a:prstGeom prst="rect">
            <a:avLst/>
          </a:prstGeom>
          <a:solidFill>
            <a:srgbClr val="DC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74545"/>
            <a:ext cx="521208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Résultat : un tableau de bord clair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555" y="1499235"/>
            <a:ext cx="7334250" cy="4591050"/>
          </a:xfrm>
          <a:prstGeom prst="rect">
            <a:avLst/>
          </a:prstGeom>
          <a:solidFill>
            <a:srgbClr val="DC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63238"/>
                </a:solidFill>
                <a:latin typeface="Calibri"/>
              </a:rPr>
              <a:t>•  Score AQI global (jauge, radar).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63238"/>
                </a:solidFill>
                <a:latin typeface="Calibri"/>
              </a:rPr>
              <a:t>•  Progression depuis le début.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63238"/>
                </a:solidFill>
                <a:latin typeface="Calibri"/>
              </a:rPr>
              <a:t>•  Comparaison avant / après.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63238"/>
                </a:solidFill>
                <a:latin typeface="Calibri"/>
              </a:rPr>
              <a:t>•  Graphiques : distributions, valeurs manquantes, corrélations, avec interprétation automatique.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Ce qui fait la différence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54864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394960" cy="1280160"/>
          </a:xfrm>
          <a:prstGeom prst="rect">
            <a:avLst/>
          </a:prstGeom>
          <a:solidFill>
            <a:srgbClr val="0A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9728" cy="128016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8A00"/>
                </a:solidFill>
                <a:latin typeface="Calibri"/>
              </a:rPr>
              <a:t>Confidentialité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Traitement 100% local, aucune donnée sur Internet.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600200"/>
            <a:ext cx="5394960" cy="1280160"/>
          </a:xfrm>
          <a:prstGeom prst="rect">
            <a:avLst/>
          </a:prstGeom>
          <a:solidFill>
            <a:srgbClr val="0A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600200"/>
            <a:ext cx="109728" cy="128016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76479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8A00"/>
                </a:solidFill>
                <a:latin typeface="Calibri"/>
              </a:rPr>
              <a:t>Hors-ligne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Installable et utilisable sans connexion (utile en zones à faible réseau).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5394960" cy="1280160"/>
          </a:xfrm>
          <a:prstGeom prst="rect">
            <a:avLst/>
          </a:prstGeom>
          <a:solidFill>
            <a:srgbClr val="0A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9728" cy="128016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7355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8A00"/>
                </a:solidFill>
                <a:latin typeface="Calibri"/>
              </a:rPr>
              <a:t>Accompagnement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Un assistant qui explique et corrige, pas un simple rapport.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108960"/>
            <a:ext cx="5394960" cy="1280160"/>
          </a:xfrm>
          <a:prstGeom prst="rect">
            <a:avLst/>
          </a:prstGeom>
          <a:solidFill>
            <a:srgbClr val="0A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3108960"/>
            <a:ext cx="109728" cy="128016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27355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8A00"/>
                </a:solidFill>
                <a:latin typeface="Calibri"/>
              </a:rPr>
              <a:t>Standards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Aligné sur FAIR, ISO, DataCite, RGPD.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5394960" cy="1280160"/>
          </a:xfrm>
          <a:prstGeom prst="rect">
            <a:avLst/>
          </a:prstGeom>
          <a:solidFill>
            <a:srgbClr val="0A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17720"/>
            <a:ext cx="109728" cy="128016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8231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8A00"/>
                </a:solidFill>
                <a:latin typeface="Calibri"/>
              </a:rPr>
              <a:t>Accessible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Gratuit, bilingue, sans installation.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617720"/>
            <a:ext cx="5394960" cy="1280160"/>
          </a:xfrm>
          <a:prstGeom prst="rect">
            <a:avLst/>
          </a:prstGeom>
          <a:solidFill>
            <a:srgbClr val="0A4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4617720"/>
            <a:ext cx="109728" cy="128016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78231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8A00"/>
                </a:solidFill>
                <a:latin typeface="Calibri"/>
              </a:rPr>
              <a:t>Data Product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Un livrable complet : données + rapports + certificat.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Pour qui ? Des cas d'usage variés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20440" cy="9144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45F"/>
                </a:solidFill>
                <a:latin typeface="Calibri"/>
              </a:rPr>
              <a:t>Recherche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300" b="0" i="0">
                <a:solidFill>
                  <a:srgbClr val="607D86"/>
                </a:solidFill>
                <a:latin typeface="Calibri"/>
              </a:rPr>
              <a:t>Préparer et documenter des données FAIR, prêtes à être publiées avec un DOI.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155448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554480"/>
            <a:ext cx="3520440" cy="9144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55648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45F"/>
                </a:solidFill>
                <a:latin typeface="Calibri"/>
              </a:rPr>
              <a:t>Santé publique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300" b="0" i="0">
                <a:solidFill>
                  <a:srgbClr val="607D86"/>
                </a:solidFill>
                <a:latin typeface="Calibri"/>
              </a:rPr>
              <a:t>Nettoyer et anonymiser des données sensibles (RGPD) avant analyse.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55448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93024" y="1554480"/>
            <a:ext cx="3520440" cy="9144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1755648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45F"/>
                </a:solidFill>
                <a:latin typeface="Calibri"/>
              </a:rPr>
              <a:t>Agriculture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300" b="0" i="0">
                <a:solidFill>
                  <a:srgbClr val="607D86"/>
                </a:solidFill>
                <a:latin typeface="Calibri"/>
              </a:rPr>
              <a:t>Fiabiliser des données d'enquêtes de terrain, même sans connexion.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3520440" cy="9144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45F"/>
                </a:solidFill>
                <a:latin typeface="Calibri"/>
              </a:rPr>
              <a:t>Éducation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300" b="0" i="0">
                <a:solidFill>
                  <a:srgbClr val="607D86"/>
                </a:solidFill>
                <a:latin typeface="Calibri"/>
              </a:rPr>
              <a:t>Enseigner la qualité des données de façon concrète et pédagogique.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35661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6552" y="3566160"/>
            <a:ext cx="3520440" cy="9144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767328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45F"/>
                </a:solidFill>
                <a:latin typeface="Calibri"/>
              </a:rPr>
              <a:t>ONG &amp; développement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300" b="0" i="0">
                <a:solidFill>
                  <a:srgbClr val="607D86"/>
                </a:solidFill>
                <a:latin typeface="Calibri"/>
              </a:rPr>
              <a:t>Produire des jeux de données crédibles pour les bailleurs.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56616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3566160"/>
            <a:ext cx="3520440" cy="91440"/>
          </a:xfrm>
          <a:prstGeom prst="rect">
            <a:avLst/>
          </a:prstGeom>
          <a:solidFill>
            <a:srgbClr val="00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3767328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45F"/>
                </a:solidFill>
                <a:latin typeface="Calibri"/>
              </a:rPr>
              <a:t>Administrations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300" b="0" i="0">
                <a:solidFill>
                  <a:srgbClr val="607D86"/>
                </a:solidFill>
                <a:latin typeface="Calibri"/>
              </a:rPr>
              <a:t>Standardiser et gouverner des données ouvertes.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AfriData Ready  :  From Raw Data to FAIR &amp; AI-Ready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4190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7D86"/>
                </a:solidFill>
                <a:latin typeface="Calibri"/>
              </a:rPr>
              <a:t>Fondateur : Patrick ALLA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AfriData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9BD8DD"/>
                </a:solidFill>
                <a:latin typeface="Calibri"/>
              </a:rPr>
              <a:t>Transformer la donnée brute en donnée de confiance, à la portée de tous.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Essayez l'application 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200" b="1" i="0">
                <a:solidFill>
                  <a:srgbClr val="FF8A00"/>
                </a:solidFill>
                <a:latin typeface="Calibri"/>
              </a:rPr>
              <a:t>patrickeudess.github.io/AfriData-Ready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B9E4E8"/>
                </a:solidFill>
                <a:latin typeface="Calibri"/>
              </a:rPr>
              <a:t>Fondateur : Patrick ALLA  :  Mémoire DU Données, UCAD / EBAD,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